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73152" cy="50886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731520"/>
            <a:ext cx="3200400" cy="3657600"/>
          </a:xfrm>
          <a:prstGeom prst="rect">
            <a:avLst/>
          </a:prstGeom>
          <a:solidFill>
            <a:srgbClr val="0D1B3E">
              <a:alpha val="80000"/>
            </a:srgbClr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0" y="1097280"/>
            <a:ext cx="502920" cy="502920"/>
          </a:xfrm>
          <a:prstGeom prst="ellipse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097280"/>
            <a:ext cx="502920" cy="502920"/>
          </a:xfrm>
          <a:prstGeom prst="ellipse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0" y="1097280"/>
            <a:ext cx="502920" cy="502920"/>
          </a:xfrm>
          <a:prstGeom prst="ellipse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0" y="1691640"/>
            <a:ext cx="502920" cy="502920"/>
          </a:xfrm>
          <a:prstGeom prst="ellipse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1691640"/>
            <a:ext cx="502920" cy="502920"/>
          </a:xfrm>
          <a:prstGeom prst="ellipse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286000"/>
            <a:ext cx="502920" cy="502920"/>
          </a:xfrm>
          <a:prstGeom prst="ellipse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2286000"/>
            <a:ext cx="502920" cy="502920"/>
          </a:xfrm>
          <a:prstGeom prst="ellipse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2286000"/>
            <a:ext cx="502920" cy="502920"/>
          </a:xfrm>
          <a:prstGeom prst="ellipse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2880360"/>
            <a:ext cx="502920" cy="502920"/>
          </a:xfrm>
          <a:prstGeom prst="ellipse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2880360"/>
            <a:ext cx="502920" cy="502920"/>
          </a:xfrm>
          <a:prstGeom prst="ellipse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3474720"/>
            <a:ext cx="502920" cy="502920"/>
          </a:xfrm>
          <a:prstGeom prst="ellipse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0" y="3474720"/>
            <a:ext cx="502920" cy="502920"/>
          </a:xfrm>
          <a:prstGeom prst="ellipse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0" y="3474720"/>
            <a:ext cx="502920" cy="502920"/>
          </a:xfrm>
          <a:prstGeom prst="ellipse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9144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BlockChit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274320" y="196596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Community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Platform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274320" y="3246120"/>
            <a:ext cx="292608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2461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Powered by Blockchain &amp; Smart Contracts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40233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7E0"/>
                </a:solidFill>
              </a:rPr>
              <a:t>Shivam Mishra (S24CSEU1470)  |  Priyanshu Prakash Singh (S24CSEU1462)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0D4FF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Community Lending is Broken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3291840"/>
          </a:xfrm>
          <a:prstGeom prst="rect">
            <a:avLst/>
          </a:prstGeom>
          <a:solidFill>
            <a:srgbClr val="0D1B3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64008" cy="32918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7E0"/>
                </a:solidFill>
              </a:rPr>
              <a:t>Traditional chit funds and lending circles have existed for decades but remain plagued by systemic flaws that put communities at financial risk.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761488"/>
            <a:ext cx="201168" cy="20116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974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</a:rPr>
              <a:t>Manual Record-Keeping — </a:t>
            </a:r>
            <a:pPr indent="0" marL="0">
              <a:buNone/>
            </a:pPr>
            <a:r>
              <a:rPr lang="en-US" sz="1200" dirty="0">
                <a:solidFill>
                  <a:srgbClr val="B8C7E0"/>
                </a:solidFill>
              </a:rPr>
              <a:t>Prone to errors and manipulation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218688"/>
            <a:ext cx="201168" cy="20116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1546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</a:rPr>
              <a:t>No Audit Trails — </a:t>
            </a:r>
            <a:pPr indent="0" marL="0">
              <a:buNone/>
            </a:pPr>
            <a:r>
              <a:rPr lang="en-US" sz="1200" dirty="0">
                <a:solidFill>
                  <a:srgbClr val="B8C7E0"/>
                </a:solidFill>
              </a:rPr>
              <a:t>Zero accountability for funds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675888"/>
            <a:ext cx="201168" cy="20116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6118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</a:rPr>
              <a:t>Human Bias — </a:t>
            </a:r>
            <a:pPr indent="0" marL="0">
              <a:buNone/>
            </a:pPr>
            <a:r>
              <a:rPr lang="en-US" sz="1200" dirty="0">
                <a:solidFill>
                  <a:srgbClr val="B8C7E0"/>
                </a:solidFill>
              </a:rPr>
              <a:t>Unfair borrower selection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4133088"/>
            <a:ext cx="201168" cy="20116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0690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</a:rPr>
              <a:t>Fraud Risk — </a:t>
            </a:r>
            <a:pPr indent="0" marL="0">
              <a:buNone/>
            </a:pPr>
            <a:r>
              <a:rPr lang="en-US" sz="1200" dirty="0">
                <a:solidFill>
                  <a:srgbClr val="B8C7E0"/>
                </a:solidFill>
              </a:rPr>
              <a:t>No tamper-proof mechanism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371600"/>
            <a:ext cx="4023360" cy="1005840"/>
          </a:xfrm>
          <a:prstGeom prst="rect">
            <a:avLst/>
          </a:prstGeom>
          <a:solidFill>
            <a:srgbClr val="091428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417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4FF"/>
                </a:solidFill>
              </a:rPr>
              <a:t>2B+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585216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7E0"/>
                </a:solidFill>
              </a:rPr>
              <a:t>People rely on informal lending globally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514600"/>
            <a:ext cx="4023360" cy="1005840"/>
          </a:xfrm>
          <a:prstGeom prst="rect">
            <a:avLst/>
          </a:prstGeom>
          <a:solidFill>
            <a:srgbClr val="091428"/>
          </a:solidFill>
          <a:ln w="2540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2560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C518"/>
                </a:solidFill>
              </a:rPr>
              <a:t>40%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5852160" y="2697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7E0"/>
                </a:solidFill>
              </a:rPr>
              <a:t>Chit funds suffer from fund mismanagement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3657600"/>
            <a:ext cx="4023360" cy="1005840"/>
          </a:xfrm>
          <a:prstGeom prst="rect">
            <a:avLst/>
          </a:prstGeom>
          <a:solidFill>
            <a:srgbClr val="091428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3703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3AED"/>
                </a:solidFill>
              </a:rPr>
              <a:t>0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5852160" y="3840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7E0"/>
                </a:solidFill>
              </a:rPr>
              <a:t>Transparency in most informal lending circles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864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6B"/>
                </a:solidFill>
              </a:rPr>
              <a:t>BlockChit  |  Decentralized Community Lending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0D4FF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BlockChit — Smart, Transparent, Trustless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7E0"/>
                </a:solidFill>
              </a:rPr>
              <a:t>BlockChit reimagines community lending using Ethereum smart contracts — automating contributions, loan distribution, EMI tracking, and profit sharing in a fully decentralized, transparent ecosystem.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148840"/>
            <a:ext cx="2011680" cy="2651760"/>
          </a:xfrm>
          <a:prstGeom prst="rect">
            <a:avLst/>
          </a:prstGeom>
          <a:solidFill>
            <a:srgbClr val="0D1B3E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148840"/>
            <a:ext cx="201168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331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11480" y="2926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Trustless Execution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383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Smart contracts auto-execute with zero human intervention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2148840"/>
            <a:ext cx="2011680" cy="2651760"/>
          </a:xfrm>
          <a:prstGeom prst="rect">
            <a:avLst/>
          </a:prstGeom>
          <a:solidFill>
            <a:srgbClr val="0D1B3E"/>
          </a:solidFill>
          <a:ln w="2540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2148840"/>
            <a:ext cx="201168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2331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60320" y="2926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518"/>
                </a:solidFill>
              </a:rPr>
              <a:t>Transparent Ledger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3383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All transactions permanently recorded on-chain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2148840"/>
            <a:ext cx="2011680" cy="2651760"/>
          </a:xfrm>
          <a:prstGeom prst="rect">
            <a:avLst/>
          </a:prstGeom>
          <a:solidFill>
            <a:srgbClr val="0D1B3E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2148840"/>
            <a:ext cx="20116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2331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709160" y="2926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Automated EMI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09160" y="3383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Time-locked payments with auto late-fee logic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66560" y="2148840"/>
            <a:ext cx="2011680" cy="2651760"/>
          </a:xfrm>
          <a:prstGeom prst="rect">
            <a:avLst/>
          </a:prstGeom>
          <a:solidFill>
            <a:srgbClr val="0D1B3E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2148840"/>
            <a:ext cx="20116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2331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858000" y="2926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Profit Sharing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0" y="3383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Per-member interest allocation calculated and distributed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864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6B"/>
                </a:solidFill>
              </a:rPr>
              <a:t>BlockChit  |  Decentralized Community Lending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C3AED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End-to-End Blockchain Framework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011680" cy="3566160"/>
          </a:xfrm>
          <a:prstGeom prst="rect">
            <a:avLst/>
          </a:prstGeom>
          <a:solidFill>
            <a:srgbClr val="0D1B3E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01168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188720"/>
            <a:ext cx="457200" cy="45720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0D1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00D4FF"/>
                </a:solidFill>
              </a:rPr>
              <a:t>NETWORK LAYER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011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Network Formation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▸  Web-based DApp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0266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▸  MetaMask Auth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4472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▸  40 Members Max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8679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▸  Wallet Addresses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0" y="2926080"/>
            <a:ext cx="457200" cy="0"/>
          </a:xfrm>
          <a:prstGeom prst="line">
            <a:avLst/>
          </a:prstGeom>
          <a:noFill/>
          <a:ln w="25400">
            <a:solidFill>
              <a:srgbClr val="B8C7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7E0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468880" y="1143000"/>
            <a:ext cx="2011680" cy="3566160"/>
          </a:xfrm>
          <a:prstGeom prst="rect">
            <a:avLst/>
          </a:prstGeom>
          <a:solidFill>
            <a:srgbClr val="0D1B3E"/>
          </a:solidFill>
          <a:ln w="2540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68880" y="1143000"/>
            <a:ext cx="201168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1188720"/>
            <a:ext cx="457200" cy="45720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0D1F"/>
                </a:solidFill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56032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5C518"/>
                </a:solidFill>
              </a:rPr>
              <a:t>CONTRACT LAYER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60320" y="2011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Smart Contract Deployment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06040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▸  Solidity / Ethereum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06040" y="30266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▸  EMI Logic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06040" y="34472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▸  Auto-execution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06040" y="38679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▸  On-chain Rules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80560" y="2926080"/>
            <a:ext cx="457200" cy="0"/>
          </a:xfrm>
          <a:prstGeom prst="line">
            <a:avLst/>
          </a:prstGeom>
          <a:noFill/>
          <a:ln w="25400">
            <a:solidFill>
              <a:srgbClr val="B8C7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7E0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663440" y="1143000"/>
            <a:ext cx="2011680" cy="3566160"/>
          </a:xfrm>
          <a:prstGeom prst="rect">
            <a:avLst/>
          </a:prstGeom>
          <a:solidFill>
            <a:srgbClr val="0D1B3E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1143000"/>
            <a:ext cx="20116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40680" y="11887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06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0D1F"/>
                </a:solidFill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75488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7C3AED"/>
                </a:solidFill>
              </a:rPr>
              <a:t>POOL LAYER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2011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Pool Formation &amp; Selection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00600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▸  Verify contributions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00600" y="30266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▸  Voting / Rotation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00600" y="34472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▸  Admin approval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00600" y="38679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▸  Verified Borrower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675120" y="2926080"/>
            <a:ext cx="457200" cy="0"/>
          </a:xfrm>
          <a:prstGeom prst="line">
            <a:avLst/>
          </a:prstGeom>
          <a:noFill/>
          <a:ln w="25400">
            <a:solidFill>
              <a:srgbClr val="B8C7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7E0"/>
                </a:solidFill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858000" y="1143000"/>
            <a:ext cx="2011680" cy="3566160"/>
          </a:xfrm>
          <a:prstGeom prst="rect">
            <a:avLst/>
          </a:prstGeom>
          <a:solidFill>
            <a:srgbClr val="0D1B3E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858000" y="1143000"/>
            <a:ext cx="20116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35240" y="118872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352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0D1F"/>
                </a:solidFill>
              </a:rPr>
              <a:t>4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4944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10B981"/>
                </a:solidFill>
              </a:rPr>
              <a:t>DISTRIBUTION LAYER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949440" y="2011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Loan Distribution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995160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▸  Direct wallet transfer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995160" y="30266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▸  Ledger recorded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995160" y="34472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▸  Tamper-proof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995160" y="38679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▸  Blockchain Txn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286000" y="4754880"/>
            <a:ext cx="4572000" cy="320040"/>
          </a:xfrm>
          <a:prstGeom prst="rect">
            <a:avLst/>
          </a:prstGeom>
          <a:solidFill>
            <a:srgbClr val="091428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860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Ethereum Blockchain  ·  Solidity Smart Contracts  ·  IPFS  ·  MetaMask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5C518"/>
                </a:solidFill>
              </a:rPr>
              <a:t>SMART CONTRACT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Logic — The Heart of BlockChit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572000" cy="3749040"/>
          </a:xfrm>
          <a:prstGeom prst="rect">
            <a:avLst/>
          </a:prstGeom>
          <a:solidFill>
            <a:srgbClr val="0A1628"/>
          </a:solidFill>
          <a:ln w="1905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457200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</a:rPr>
              <a:t>contract BlockChit.sol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4389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 BlockChit {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mapping(addr=&gt;Member) pool;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 public loanAmt;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joinPool() {...}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selectBorrower() {...}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payEMI() {...}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shareProfit() {...}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212080" y="1097280"/>
            <a:ext cx="3566160" cy="822960"/>
          </a:xfrm>
          <a:prstGeom prst="rect">
            <a:avLst/>
          </a:prstGeom>
          <a:solidFill>
            <a:srgbClr val="091428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49240" y="1143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joinPool()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49240" y="1463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Register member with wallet address into lending group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12080" y="2029968"/>
            <a:ext cx="3566160" cy="822960"/>
          </a:xfrm>
          <a:prstGeom prst="rect">
            <a:avLst/>
          </a:prstGeom>
          <a:solidFill>
            <a:srgbClr val="091428"/>
          </a:solidFill>
          <a:ln w="1905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49240" y="20756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selectBorrower()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23957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Rotation / voting logic for fair borrower selection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0" y="2962656"/>
            <a:ext cx="3566160" cy="822960"/>
          </a:xfrm>
          <a:prstGeom prst="rect">
            <a:avLst/>
          </a:prstGeom>
          <a:solidFill>
            <a:srgbClr val="091428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49240" y="30083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payEMI()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49240" y="332841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Time-locked EMI with auto late-fee enforcement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12080" y="3895344"/>
            <a:ext cx="3566160" cy="822960"/>
          </a:xfrm>
          <a:prstGeom prst="rect">
            <a:avLst/>
          </a:prstGeom>
          <a:solidFill>
            <a:srgbClr val="091428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49240" y="39410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shareProfit()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49240" y="426110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Calculates and distributes interest to all members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864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6B"/>
                </a:solidFill>
              </a:rPr>
              <a:t>BlockChit  |  Decentralized Community Lending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10B981"/>
                </a:solidFill>
              </a:rPr>
              <a:t>SYSTEM COMPONENTS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Decentralized Infrastructure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1691640"/>
          </a:xfrm>
          <a:prstGeom prst="rect">
            <a:avLst/>
          </a:prstGeom>
          <a:solidFill>
            <a:srgbClr val="0D1B3E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43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🖥️  User Interface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▸  Web DApp (React)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9933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▸  Mobile App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267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▸  MetaMask Integration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5420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▸  Live monitoring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2743200" cy="1691640"/>
          </a:xfrm>
          <a:prstGeom prst="rect">
            <a:avLst/>
          </a:prstGeom>
          <a:solidFill>
            <a:srgbClr val="0D1B3E"/>
          </a:solidFill>
          <a:ln w="1905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188720"/>
            <a:ext cx="27432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80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</a:rPr>
              <a:t>📜  Smart Contracts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17190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▸  Solidity / Ethereum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19933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▸  EMI Logic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2267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▸  Auto-execution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25420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▸  Pool Management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188720"/>
            <a:ext cx="2743200" cy="1691640"/>
          </a:xfrm>
          <a:prstGeom prst="rect">
            <a:avLst/>
          </a:prstGeom>
          <a:solidFill>
            <a:srgbClr val="0D1B3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188720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280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📊  Data Visualization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17190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▸  Pool Balance Chart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19933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▸  EMI Status Board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2267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▸  Member Participation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25420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▸  Profit Trend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108960"/>
            <a:ext cx="2743200" cy="1691640"/>
          </a:xfrm>
          <a:prstGeom prst="rect">
            <a:avLst/>
          </a:prstGeom>
          <a:solidFill>
            <a:srgbClr val="0D1B3E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10896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00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</a:rPr>
              <a:t>☁️  IPFS / Cloud Backup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36393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▸  Off-chain doc store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3913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▸  Loan agreements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187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▸  Member KYC records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4622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▸  Backup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0" y="3108960"/>
            <a:ext cx="2743200" cy="1691640"/>
          </a:xfrm>
          <a:prstGeom prst="rect">
            <a:avLst/>
          </a:prstGeom>
          <a:solidFill>
            <a:srgbClr val="0D1B3E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0" y="3108960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3200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💳  EMI &amp; Repayment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291840" y="36393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▸  Time-locked payments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91840" y="3913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▸  Auto late-fee logic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91840" y="4187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▸  Repayment schedule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91840" y="44622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▸  Verified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26480" y="3108960"/>
            <a:ext cx="2743200" cy="1691640"/>
          </a:xfrm>
          <a:prstGeom prst="rect">
            <a:avLst/>
          </a:prstGeom>
          <a:solidFill>
            <a:srgbClr val="0D1B3E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3108960"/>
            <a:ext cx="27432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3200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💰  Profit Management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217920" y="36393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▸  Interest allocation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17920" y="3913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▸  Per-member share calc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17920" y="4187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▸  Withdrawal rules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17920" y="44622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▸  On-chain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4864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6B"/>
                </a:solidFill>
              </a:rPr>
              <a:t>BlockChit  |  Decentralized Community Lending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0D4FF"/>
                </a:solidFill>
              </a:rPr>
              <a:t>USER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BlockChit Works — Step by Step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206240" cy="1097280"/>
          </a:xfrm>
          <a:prstGeom prst="rect">
            <a:avLst/>
          </a:prstGeom>
          <a:solidFill>
            <a:srgbClr val="0D1B3E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548640" cy="1097280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2801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Join Pool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</a:rPr>
              <a:t>Connect MetaMask wallet, register with wallet address. Max 40 members per group.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805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C7E0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4206240" cy="1097280"/>
          </a:xfrm>
          <a:prstGeom prst="rect">
            <a:avLst/>
          </a:prstGeom>
          <a:solidFill>
            <a:srgbClr val="0D1B3E"/>
          </a:solidFill>
          <a:ln w="1905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88720"/>
            <a:ext cx="548640" cy="1097280"/>
          </a:xfrm>
          <a:prstGeom prst="rect">
            <a:avLst/>
          </a:prstGeom>
          <a:solidFill>
            <a:srgbClr val="F5C518">
              <a:alpha val="80000"/>
            </a:srgbClr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18872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18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49240" y="12801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Contribute EMI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16459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</a:rPr>
              <a:t>Every member contributes a fixed amount each cycle. Smart contract auto-verifies contributions.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450592"/>
            <a:ext cx="4206240" cy="1097280"/>
          </a:xfrm>
          <a:prstGeom prst="rect">
            <a:avLst/>
          </a:prstGeom>
          <a:solidFill>
            <a:srgbClr val="0D1B3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450592"/>
            <a:ext cx="548640" cy="109728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450592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400" y="25420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Select Borrower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290779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</a:rPr>
              <a:t>Admin or rotation system selects verified borrower via on-chain voting logic.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80560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C7E0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709160" y="2450592"/>
            <a:ext cx="4206240" cy="1097280"/>
          </a:xfrm>
          <a:prstGeom prst="rect">
            <a:avLst/>
          </a:prstGeom>
          <a:solidFill>
            <a:srgbClr val="0D1B3E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450592"/>
            <a:ext cx="548640" cy="109728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450592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49240" y="25420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Loan Disbursed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49240" y="290779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</a:rPr>
              <a:t>Pooled funds transferred directly to borrower's wallet. Transaction recorded on blockchain ledger.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712464"/>
            <a:ext cx="4206240" cy="1097280"/>
          </a:xfrm>
          <a:prstGeom prst="rect">
            <a:avLst/>
          </a:prstGeom>
          <a:solidFill>
            <a:srgbClr val="0D1B3E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712464"/>
            <a:ext cx="548640" cy="1097280"/>
          </a:xfrm>
          <a:prstGeom prst="rect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712464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E9"/>
                </a:solidFill>
              </a:rPr>
              <a:t>05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14400" y="38039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</a:rPr>
              <a:t>Repayment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" y="416966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</a:rPr>
              <a:t>Borrower repays via time-locked EMI. Late fees auto-applied. All tracked on-chain.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48056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C7E0"/>
                </a:solidFill>
              </a:rPr>
              <a:t>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4709160" y="3712464"/>
            <a:ext cx="4206240" cy="1097280"/>
          </a:xfrm>
          <a:prstGeom prst="rect">
            <a:avLst/>
          </a:prstGeom>
          <a:solidFill>
            <a:srgbClr val="0D1B3E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3712464"/>
            <a:ext cx="548640" cy="1097280"/>
          </a:xfrm>
          <a:prstGeom prst="rect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712464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</a:rPr>
              <a:t>06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349240" y="38039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</a:rPr>
              <a:t>Profit Shared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49240" y="416966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</a:rPr>
              <a:t>Interest profits calculated and distributed to all members. Withdrawal rules enforced by smart contract.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4864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6B"/>
                </a:solidFill>
              </a:rPr>
              <a:t>BlockChit  |  Decentralized Community Lending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C3AED"/>
                </a:solidFill>
              </a:rPr>
              <a:t>TECHNOLOGY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Industry-Grade Web3 Tools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1097280"/>
          </a:xfrm>
          <a:prstGeom prst="rect">
            <a:avLst/>
          </a:prstGeom>
          <a:solidFill>
            <a:srgbClr val="0D1B3E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1005840" cy="1097280"/>
          </a:xfrm>
          <a:prstGeom prst="rect">
            <a:avLst/>
          </a:prstGeom>
          <a:solidFill>
            <a:srgbClr val="00D4FF">
              <a:alpha val="7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0D1F"/>
                </a:solidFill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28016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▸  React.js (Web DApp)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151790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▸  MetaMask Provider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175564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▸  Web3.js / Ethers.js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19933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▸  Responsive UI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50592"/>
            <a:ext cx="4114800" cy="1097280"/>
          </a:xfrm>
          <a:prstGeom prst="rect">
            <a:avLst/>
          </a:prstGeom>
          <a:solidFill>
            <a:srgbClr val="0D1B3E"/>
          </a:solidFill>
          <a:ln w="1905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450592"/>
            <a:ext cx="1005840" cy="1097280"/>
          </a:xfrm>
          <a:prstGeom prst="rect">
            <a:avLst/>
          </a:prstGeom>
          <a:solidFill>
            <a:srgbClr val="F5C518">
              <a:alpha val="75000"/>
            </a:srgbClr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450592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0D1F"/>
                </a:solidFill>
              </a:rPr>
              <a:t>Backend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254203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▸  Solidity Smart Contracts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277977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▸  Hardhat Development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17320" y="30175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▸  Node.js APIs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325526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▸  Event Listeners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712464"/>
            <a:ext cx="4114800" cy="1097280"/>
          </a:xfrm>
          <a:prstGeom prst="rect">
            <a:avLst/>
          </a:prstGeom>
          <a:solidFill>
            <a:srgbClr val="0D1B3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712464"/>
            <a:ext cx="1005840" cy="1097280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712464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0D1F"/>
                </a:solidFill>
              </a:rPr>
              <a:t>Storage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380390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▸  Ethereum Blockchain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404164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▸  IPFS (Off-chain docs)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17320" y="42793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▸  On-chain Ledger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17320" y="451713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▸  Cloud Backup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1188720"/>
            <a:ext cx="4114800" cy="3520440"/>
          </a:xfrm>
          <a:prstGeom prst="rect">
            <a:avLst/>
          </a:prstGeom>
          <a:solidFill>
            <a:srgbClr val="091428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37760" y="12344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✅  Key Benefits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92040" y="1783080"/>
            <a:ext cx="1005840" cy="384048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17830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Immutability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89320" y="17830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All transactions are permanent and tamper-proof on-chain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92040" y="2368296"/>
            <a:ext cx="1005840" cy="384048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36829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Transparency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89320" y="23682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Anyone can audit transaction history at any time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2953512"/>
            <a:ext cx="1005840" cy="384048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953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Automation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89320" y="29535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Smart contracts execute without human intervention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92040" y="3538728"/>
            <a:ext cx="1005840" cy="384048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5387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Accessibility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89320" y="35387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Anyone with MetaMask can join from anywhere globally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92040" y="4123944"/>
            <a:ext cx="1005840" cy="384048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412394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Security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989320" y="41239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Cryptographic signatures protect every transaction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0" y="4864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6B"/>
                </a:solidFill>
              </a:rPr>
              <a:t>BlockChit  |  Decentralized Community Lending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0A896"/>
                </a:solidFill>
              </a:rPr>
              <a:t>ON-CHAIN TRANSPARENCY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Blockchain Event Log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0" cy="3383280"/>
          </a:xfrm>
          <a:prstGeom prst="line">
            <a:avLst/>
          </a:prstGeom>
          <a:noFill/>
          <a:ln w="25400">
            <a:solidFill>
              <a:srgbClr val="1A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25880"/>
            <a:ext cx="274320" cy="27432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234440"/>
            <a:ext cx="7772400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1234440"/>
            <a:ext cx="1188720" cy="548640"/>
          </a:xfrm>
          <a:prstGeom prst="rect">
            <a:avLst/>
          </a:prstGeom>
          <a:solidFill>
            <a:srgbClr val="09142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234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#1042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280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Group Joined —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49040" y="1280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Member 0x4a2f...9c joined lending pool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002536"/>
            <a:ext cx="274320" cy="27432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1911096"/>
            <a:ext cx="7772400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5840" y="1911096"/>
            <a:ext cx="1188720" cy="548640"/>
          </a:xfrm>
          <a:prstGeom prst="rect">
            <a:avLst/>
          </a:prstGeom>
          <a:solidFill>
            <a:srgbClr val="09142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191109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#1055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195681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</a:rPr>
              <a:t>Loan Released — 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49040" y="195681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2.5 ETH disbursed to 0x8b31...2d borrower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2679192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2587752"/>
            <a:ext cx="7772400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5840" y="2587752"/>
            <a:ext cx="1188720" cy="548640"/>
          </a:xfrm>
          <a:prstGeom prst="rect">
            <a:avLst/>
          </a:prstGeom>
          <a:solidFill>
            <a:srgbClr val="091428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258775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#1063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0" y="26334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EMI Submitted — 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49040" y="26334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0x4a2f...9c paid 0.25 ETH — cycle 1 of 10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3355848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3264408"/>
            <a:ext cx="7772400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05840" y="3264408"/>
            <a:ext cx="1188720" cy="548640"/>
          </a:xfrm>
          <a:prstGeom prst="rect">
            <a:avLst/>
          </a:prstGeom>
          <a:solidFill>
            <a:srgbClr val="09142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326440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#1070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86000" y="33101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EMI Paid — 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49040" y="33101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All 40 members contributed this cycle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" y="4032504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" y="3941064"/>
            <a:ext cx="7772400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05840" y="3941064"/>
            <a:ext cx="1188720" cy="548640"/>
          </a:xfrm>
          <a:prstGeom prst="rect">
            <a:avLst/>
          </a:prstGeom>
          <a:solidFill>
            <a:srgbClr val="091428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394106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#1088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286000" y="398678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Profit Split — 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749040" y="398678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0"/>
                </a:solidFill>
              </a:rPr>
              <a:t>0.05 ETH distributed per member — cycle close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solidFill>
            <a:srgbClr val="091428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4745736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4672" y="4681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7E0"/>
                </a:solidFill>
              </a:rPr>
              <a:t>Network / DApp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240280" y="474573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04872" y="4681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7E0"/>
                </a:solidFill>
              </a:rPr>
              <a:t>Smart Contract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840480" y="4745736"/>
            <a:ext cx="109728" cy="10972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05072" y="4681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7E0"/>
                </a:solidFill>
              </a:rPr>
              <a:t>Pool / Distribution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40680" y="474573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05272" y="4681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7E0"/>
                </a:solidFill>
              </a:rPr>
              <a:t>EMI / Repayment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040880" y="4745736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05472" y="4681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7E0"/>
                </a:solidFill>
              </a:rPr>
              <a:t>Visualization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5C518"/>
                </a:solidFill>
              </a:rPr>
              <a:t>ALGORITHMS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Algorithms Powering BlockChit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60520" cy="1691640"/>
          </a:xfrm>
          <a:prstGeom prst="rect">
            <a:avLst/>
          </a:prstGeom>
          <a:solidFill>
            <a:srgbClr val="0D1B3E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416052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801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📐  EMI Calculation Algorithm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6642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 = [P × r × (1+r)ⁿ] / [(1+r)ⁿ − 1]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0299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P</a:t>
            </a:r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 = Principal loan  </a:t>
            </a:r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r</a:t>
            </a:r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 = Monthly interest rate  </a:t>
            </a:r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n</a:t>
            </a:r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 = Total EMI cycles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23774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C7E0"/>
                </a:solidFill>
              </a:rPr>
              <a:t>Smart contract enforces time-locked payments; late fees auto-applied if deadline missed.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4160520" cy="1691640"/>
          </a:xfrm>
          <a:prstGeom prst="rect">
            <a:avLst/>
          </a:prstGeom>
          <a:solidFill>
            <a:srgbClr val="0D1B3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88720"/>
            <a:ext cx="41605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12801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🔄  Borrower Selection Algorithm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18888" y="16916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</a:rPr>
              <a:t>1. Verify all member contributions for cycle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18888" y="19476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</a:rPr>
              <a:t>2. Filter eligible (non-prior-borrowers)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18888" y="22037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</a:rPr>
              <a:t>3. Apply rotation index OR weighted vote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18888" y="24597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4. Smart contract assigns verified borrower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18888" y="26700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C518"/>
                </a:solidFill>
              </a:rPr>
              <a:t>O(n) — deterministic, bias-free, on-chain execution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035808"/>
            <a:ext cx="4160520" cy="1691640"/>
          </a:xfrm>
          <a:prstGeom prst="rect">
            <a:avLst/>
          </a:prstGeom>
          <a:solidFill>
            <a:srgbClr val="0D1B3E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35808"/>
            <a:ext cx="41605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1272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💰  Profit Sharing Algorithm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" y="35112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Share_i = (TotalInterest × Contribution_i) / ΣContributions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4048" y="39136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• Total interest pooled from all EMI cycles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" y="409651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• Each member's share ∝ their contribution amount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" y="4279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• shareProfit() distributes directly to wallets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4048" y="446227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• Immutable on-chain record of every distribution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3035808"/>
            <a:ext cx="4160520" cy="1691640"/>
          </a:xfrm>
          <a:prstGeom prst="rect">
            <a:avLst/>
          </a:prstGeom>
          <a:solidFill>
            <a:srgbClr val="0D1B3E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035808"/>
            <a:ext cx="416052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31272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⏱️  Late Fee &amp; Penalty Algorithm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18888" y="35112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Penalty = BaseFee + (DaysLate × DailyRate)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18888" y="39136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1. block.timestamp checked against due date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18888" y="41056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2. If overdue → penalty auto-calculated on-chain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18888" y="42976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3. Penalty added to EMI before accepting payment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18888" y="448970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4. Event emitted: LateFeeApplied(member, amount)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864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6B"/>
                </a:solidFill>
              </a:rPr>
              <a:t>BlockChit  |  Decentralized Community Lending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0D4FF"/>
                </a:solidFill>
              </a:rPr>
              <a:t>CONTRIBUTIONS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 &amp; Technical Contributions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658368"/>
          </a:xfrm>
          <a:prstGeom prst="rect">
            <a:avLst/>
          </a:prstGeom>
          <a:solidFill>
            <a:srgbClr val="0D1B3E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44168"/>
            <a:ext cx="420624" cy="42062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44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0D1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Blockchain-Secured Finance Model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6002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</a:rPr>
              <a:t>First implementation of traditional chit fund logic on Ethereum with full immutability and tamper-resistance.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8412480" cy="658368"/>
          </a:xfrm>
          <a:prstGeom prst="rect">
            <a:avLst/>
          </a:prstGeom>
          <a:solidFill>
            <a:srgbClr val="0D1B3E"/>
          </a:solidFill>
          <a:ln w="1905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03120"/>
            <a:ext cx="420624" cy="420624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0D1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0391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</a:rPr>
              <a:t>Automated Profit-Sharing Logic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3591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</a:rPr>
              <a:t>Novel on-chain algorithm for per-member interest allocation based on contribution history and cycle participation.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752344"/>
            <a:ext cx="8412480" cy="658368"/>
          </a:xfrm>
          <a:prstGeom prst="rect">
            <a:avLst/>
          </a:prstGeom>
          <a:solidFill>
            <a:srgbClr val="0D1B3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62072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62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0D1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7980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Integrated Transaction Transparency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11810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</a:rPr>
              <a:t>Real-time event log system providing complete audit trail for every financial action within the community group.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511296"/>
            <a:ext cx="8412480" cy="658368"/>
          </a:xfrm>
          <a:prstGeom prst="rect">
            <a:avLst/>
          </a:prstGeom>
          <a:solidFill>
            <a:srgbClr val="0D1B3E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621024"/>
            <a:ext cx="420624" cy="4206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0D1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5570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User-Centric DeFi Interface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38770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</a:rPr>
              <a:t>Intuitive React-based web DApp with dual-currency visualization, accessible to non-technical community members.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270248"/>
            <a:ext cx="8412480" cy="658368"/>
          </a:xfrm>
          <a:prstGeom prst="rect">
            <a:avLst/>
          </a:prstGeom>
          <a:solidFill>
            <a:srgbClr val="0D1B3E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379976"/>
            <a:ext cx="420624" cy="42062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379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0D1F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3159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EMI Automation Framework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46360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</a:rPr>
              <a:t>Time-locked repayment system with automated late-fee application eliminating need for manual follow-up.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864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6B"/>
                </a:solidFill>
              </a:rPr>
              <a:t>BlockChit  |  Decentralized Community Lending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0A896"/>
                </a:solidFill>
              </a:rPr>
              <a:t>RELATED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BlockChit Stands Apart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95360" cy="777240"/>
          </a:xfrm>
          <a:prstGeom prst="rect">
            <a:avLst/>
          </a:prstGeom>
          <a:solidFill>
            <a:srgbClr val="0D1B3E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1463040" cy="777240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28016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Aave / Compound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" y="1645920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DeFi Protocol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74520" y="12801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A896"/>
                </a:solidFill>
              </a:rPr>
              <a:t>✔  Overcollateralized loans, liquidity pools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74520" y="16459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</a:rPr>
              <a:t>✘  Ignores small community groups, needs large capital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40680" y="1325880"/>
            <a:ext cx="3291840" cy="594360"/>
          </a:xfrm>
          <a:prstGeom prst="rect">
            <a:avLst/>
          </a:prstGeom>
          <a:solidFill>
            <a:srgbClr val="091428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13258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BlockChit fills this gap 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32120" y="1581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7E0"/>
                </a:solidFill>
              </a:rPr>
              <a:t>Community-first + blockchain automation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130552"/>
            <a:ext cx="8595360" cy="777240"/>
          </a:xfrm>
          <a:prstGeom prst="rect">
            <a:avLst/>
          </a:prstGeom>
          <a:solidFill>
            <a:srgbClr val="0D1B3E"/>
          </a:solidFill>
          <a:ln w="1905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30552"/>
            <a:ext cx="1463040" cy="777240"/>
          </a:xfrm>
          <a:prstGeom prst="rect">
            <a:avLst/>
          </a:prstGeom>
          <a:solidFill>
            <a:srgbClr val="F5C518">
              <a:alpha val="80000"/>
            </a:srgbClr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217627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Traditional Chit Fund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" y="2542032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Offline System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74520" y="217627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A896"/>
                </a:solidFill>
              </a:rPr>
              <a:t>✔  Community trust, accessible to all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874520" y="254203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</a:rPr>
              <a:t>✘  Manual records, fraud-prone, no audit trail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40680" y="2221992"/>
            <a:ext cx="3291840" cy="594360"/>
          </a:xfrm>
          <a:prstGeom prst="rect">
            <a:avLst/>
          </a:prstGeom>
          <a:solidFill>
            <a:srgbClr val="091428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2219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C518"/>
                </a:solidFill>
              </a:rPr>
              <a:t>BlockChit fills this gap →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32120" y="24780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7E0"/>
                </a:solidFill>
              </a:rPr>
              <a:t>On-chain chit fund with smart contracts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026664"/>
            <a:ext cx="8595360" cy="777240"/>
          </a:xfrm>
          <a:prstGeom prst="rect">
            <a:avLst/>
          </a:prstGeom>
          <a:solidFill>
            <a:srgbClr val="0D1B3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026664"/>
            <a:ext cx="1463040" cy="77724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072384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Ethereum-based DAOs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92608" y="3438144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Governance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74520" y="30723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A896"/>
                </a:solidFill>
              </a:rPr>
              <a:t>✔  On-chain voting, transparent treasury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874520" y="343814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</a:rPr>
              <a:t>✘  Complex governance, not tailored for lending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40680" y="3118104"/>
            <a:ext cx="3291840" cy="594360"/>
          </a:xfrm>
          <a:prstGeom prst="rect">
            <a:avLst/>
          </a:prstGeom>
          <a:solidFill>
            <a:srgbClr val="091428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3118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BlockChit fills this gap →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32120" y="33741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7E0"/>
                </a:solidFill>
              </a:rPr>
              <a:t>Lending-focused with auto EMI &amp; profit sharing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922776"/>
            <a:ext cx="8595360" cy="777240"/>
          </a:xfrm>
          <a:prstGeom prst="rect">
            <a:avLst/>
          </a:prstGeom>
          <a:solidFill>
            <a:srgbClr val="0D1B3E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922776"/>
            <a:ext cx="1463040" cy="777240"/>
          </a:xfrm>
          <a:prstGeom prst="rect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" y="3968496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MicroFinance Apps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92608" y="4334256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Centralized App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874520" y="396849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A896"/>
                </a:solidFill>
              </a:rPr>
              <a:t>✔  User-friendly, peer lending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874520" y="433425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</a:rPr>
              <a:t>✘  Centralized risk, no smart contract automation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40680" y="4014216"/>
            <a:ext cx="3291840" cy="594360"/>
          </a:xfrm>
          <a:prstGeom prst="rect">
            <a:avLst/>
          </a:prstGeom>
          <a:solidFill>
            <a:srgbClr val="091428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32120" y="40142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BlockChit fills this gap →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32120" y="4270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7E0"/>
                </a:solidFill>
              </a:rPr>
              <a:t>Decentralized, trustless, no central authority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0" y="4864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6B"/>
                </a:solidFill>
              </a:rPr>
              <a:t>BlockChit  |  Decentralized Community Lending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5C518"/>
                </a:solidFill>
              </a:rPr>
              <a:t>COMPARISON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BlockChit vs Traditional vs Other DeFi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011680" cy="4114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0" y="1234440"/>
            <a:ext cx="2103120" cy="411480"/>
          </a:xfrm>
          <a:prstGeom prst="rect">
            <a:avLst/>
          </a:prstGeom>
          <a:solidFill>
            <a:srgbClr val="445566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1234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Traditional Chit Fund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26280" y="1234440"/>
            <a:ext cx="2103120" cy="411480"/>
          </a:xfrm>
          <a:prstGeom prst="rect">
            <a:avLst/>
          </a:prstGeom>
          <a:solidFill>
            <a:srgbClr val="55667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234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Aave / Compound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0" y="1234440"/>
            <a:ext cx="228600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234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518"/>
                </a:solidFill>
              </a:rPr>
              <a:t>BlockChit ✦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664208"/>
            <a:ext cx="2011680" cy="384048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166420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Transparency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1664208"/>
            <a:ext cx="2103120" cy="384048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50592" y="1664208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4444"/>
                </a:solidFill>
              </a:rPr>
              <a:t>❌ None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26280" y="1664208"/>
            <a:ext cx="2103120" cy="384048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9432" y="1664208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✅ On-chain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75120" y="1664208"/>
            <a:ext cx="2286000" cy="384048"/>
          </a:xfrm>
          <a:prstGeom prst="rect">
            <a:avLst/>
          </a:prstGeom>
          <a:solidFill>
            <a:srgbClr val="0A2A1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48272" y="166420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✅ Full on-chain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066544"/>
            <a:ext cx="2011680" cy="384048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2066544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Automation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066544"/>
            <a:ext cx="2103120" cy="384048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50592" y="2066544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4444"/>
                </a:solidFill>
              </a:rPr>
              <a:t>❌ Manual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26280" y="2066544"/>
            <a:ext cx="2103120" cy="384048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9432" y="2066544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✅ Smart contracts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75120" y="2066544"/>
            <a:ext cx="2286000" cy="384048"/>
          </a:xfrm>
          <a:prstGeom prst="rect">
            <a:avLst/>
          </a:prstGeom>
          <a:solidFill>
            <a:srgbClr val="0A2A1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48272" y="2066544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✅ Smart contracts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468880"/>
            <a:ext cx="2011680" cy="384048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" y="246888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Community Focus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2468880"/>
            <a:ext cx="2103120" cy="384048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50592" y="246888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✅ Yes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26280" y="2468880"/>
            <a:ext cx="2103120" cy="384048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9432" y="246888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4444"/>
                </a:solidFill>
              </a:rPr>
              <a:t>❌ Institutional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75120" y="2468880"/>
            <a:ext cx="2286000" cy="384048"/>
          </a:xfrm>
          <a:prstGeom prst="rect">
            <a:avLst/>
          </a:prstGeom>
          <a:solidFill>
            <a:srgbClr val="0A2A1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48272" y="246888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✅ Community-first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2871216"/>
            <a:ext cx="2011680" cy="384048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" y="2871216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Audit Trail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77440" y="2871216"/>
            <a:ext cx="2103120" cy="384048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50592" y="2871216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4444"/>
                </a:solidFill>
              </a:rPr>
              <a:t>❌ Paper records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26280" y="2871216"/>
            <a:ext cx="2103120" cy="384048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99432" y="2871216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✅ Blockchain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75120" y="2871216"/>
            <a:ext cx="2286000" cy="384048"/>
          </a:xfrm>
          <a:prstGeom prst="rect">
            <a:avLst/>
          </a:prstGeom>
          <a:solidFill>
            <a:srgbClr val="0A2A1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48272" y="287121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✅ Event logs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3273552"/>
            <a:ext cx="2011680" cy="384048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3192" y="3273552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EMI Tracking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77440" y="3273552"/>
            <a:ext cx="2103120" cy="384048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50592" y="3273552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4444"/>
                </a:solidFill>
              </a:rPr>
              <a:t>❌ Manual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26280" y="3273552"/>
            <a:ext cx="2103120" cy="384048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99432" y="3273552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4444"/>
                </a:solidFill>
              </a:rPr>
              <a:t>❌ N/A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675120" y="3273552"/>
            <a:ext cx="2286000" cy="384048"/>
          </a:xfrm>
          <a:prstGeom prst="rect">
            <a:avLst/>
          </a:prstGeom>
          <a:solidFill>
            <a:srgbClr val="0A2A1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48272" y="327355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✅ Automated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0040" y="3675888"/>
            <a:ext cx="2011680" cy="384048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3192" y="367588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Profit Sharing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77440" y="3675888"/>
            <a:ext cx="2103120" cy="384048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50592" y="3675888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</a:rPr>
              <a:t>⚠ Informal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26280" y="3675888"/>
            <a:ext cx="2103120" cy="384048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99432" y="3675888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</a:rPr>
              <a:t>⚠ Interest only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675120" y="3675888"/>
            <a:ext cx="2286000" cy="384048"/>
          </a:xfrm>
          <a:prstGeom prst="rect">
            <a:avLst/>
          </a:prstGeom>
          <a:solidFill>
            <a:srgbClr val="0A2A1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48272" y="367588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✅ Proportional auto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20040" y="4078224"/>
            <a:ext cx="2011680" cy="384048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3192" y="4078224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Fraud Prevention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377440" y="4078224"/>
            <a:ext cx="2103120" cy="384048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450592" y="4078224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4444"/>
                </a:solidFill>
              </a:rPr>
              <a:t>❌ Trust-based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26280" y="4078224"/>
            <a:ext cx="2103120" cy="384048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99432" y="4078224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✅ Overcollateral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675120" y="4078224"/>
            <a:ext cx="2286000" cy="384048"/>
          </a:xfrm>
          <a:prstGeom prst="rect">
            <a:avLst/>
          </a:prstGeom>
          <a:solidFill>
            <a:srgbClr val="0A2A1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748272" y="4078224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✅ Trustless code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20040" y="4480560"/>
            <a:ext cx="2011680" cy="384048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93192" y="448056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Accessibility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377440" y="4480560"/>
            <a:ext cx="2103120" cy="384048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450592" y="448056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✅ Easy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526280" y="4480560"/>
            <a:ext cx="2103120" cy="384048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99432" y="448056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4444"/>
                </a:solidFill>
              </a:rPr>
              <a:t>❌ Complex/capital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675120" y="4480560"/>
            <a:ext cx="2286000" cy="384048"/>
          </a:xfrm>
          <a:prstGeom prst="rect">
            <a:avLst/>
          </a:prstGeom>
          <a:solidFill>
            <a:srgbClr val="0A2A1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748272" y="448056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✅ MetaMask only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0" y="4864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6B"/>
                </a:solidFill>
              </a:rPr>
              <a:t>BlockChit  |  Decentralized Community Lending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C3AED"/>
                </a:solidFill>
              </a:rPr>
              <a:t>USE CASE DIAGRAM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&amp; System Interactions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377440" y="1143000"/>
            <a:ext cx="5029200" cy="3657600"/>
          </a:xfrm>
          <a:prstGeom prst="rect">
            <a:avLst/>
          </a:prstGeom>
          <a:solidFill>
            <a:srgbClr val="0D1B3E"/>
          </a:solidFill>
          <a:ln w="19050">
            <a:solidFill>
              <a:srgbClr val="1A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11430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C7E0"/>
                </a:solidFill>
              </a:rPr>
              <a:t>BlockChit Smart Contract System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1572768"/>
            <a:ext cx="1737360" cy="411480"/>
          </a:xfrm>
          <a:prstGeom prst="ellipse">
            <a:avLst/>
          </a:prstGeom>
          <a:solidFill>
            <a:srgbClr val="00D4FF">
              <a:alpha val="25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5727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Join Pool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240280"/>
            <a:ext cx="1737360" cy="411480"/>
          </a:xfrm>
          <a:prstGeom prst="ellipse">
            <a:avLst/>
          </a:prstGeom>
          <a:solidFill>
            <a:srgbClr val="00D4FF">
              <a:alpha val="25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Pay EMI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2907792"/>
            <a:ext cx="1737360" cy="411480"/>
          </a:xfrm>
          <a:prstGeom prst="ellipse">
            <a:avLst/>
          </a:prstGeom>
          <a:solidFill>
            <a:srgbClr val="00D4FF">
              <a:alpha val="25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29077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View Dashboard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3566160"/>
            <a:ext cx="1737360" cy="411480"/>
          </a:xfrm>
          <a:prstGeom prst="ellipse">
            <a:avLst/>
          </a:prstGeom>
          <a:solidFill>
            <a:srgbClr val="F5C518">
              <a:alpha val="25000"/>
            </a:srgbClr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3566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Receive Loan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49240" y="1572768"/>
            <a:ext cx="1737360" cy="411480"/>
          </a:xfrm>
          <a:prstGeom prst="ellipse">
            <a:avLst/>
          </a:prstGeom>
          <a:solidFill>
            <a:srgbClr val="7C3AED">
              <a:alpha val="25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15727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Select Borrower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49240" y="2240280"/>
            <a:ext cx="1737360" cy="411480"/>
          </a:xfrm>
          <a:prstGeom prst="ellipse">
            <a:avLst/>
          </a:prstGeom>
          <a:solidFill>
            <a:srgbClr val="7C3AED">
              <a:alpha val="25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Distribute Profit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49240" y="2907792"/>
            <a:ext cx="1737360" cy="411480"/>
          </a:xfrm>
          <a:prstGeom prst="ellipse">
            <a:avLst/>
          </a:prstGeom>
          <a:solidFill>
            <a:srgbClr val="7C3AED">
              <a:alpha val="25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29077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Monitor Pool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3566160"/>
            <a:ext cx="1737360" cy="411480"/>
          </a:xfrm>
          <a:prstGeom prst="ellipse">
            <a:avLst/>
          </a:prstGeom>
          <a:solidFill>
            <a:srgbClr val="7C3AED">
              <a:alpha val="25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3566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Set EMI Rules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2194560"/>
            <a:ext cx="274320" cy="274320"/>
          </a:xfrm>
          <a:prstGeom prst="ellipse">
            <a:avLst/>
          </a:prstGeom>
          <a:solidFill>
            <a:srgbClr val="00D4FF">
              <a:alpha val="70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2468880"/>
            <a:ext cx="0" cy="3200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2578608"/>
            <a:ext cx="45720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788920"/>
            <a:ext cx="182880" cy="22860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" y="2788920"/>
            <a:ext cx="-182880" cy="22860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063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Member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291840"/>
            <a:ext cx="274320" cy="274320"/>
          </a:xfrm>
          <a:prstGeom prst="ellipse">
            <a:avLst/>
          </a:prstGeom>
          <a:solidFill>
            <a:srgbClr val="F5C518">
              <a:alpha val="70000"/>
            </a:srgbClr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3566160"/>
            <a:ext cx="0" cy="320040"/>
          </a:xfrm>
          <a:prstGeom prst="line">
            <a:avLst/>
          </a:prstGeom>
          <a:noFill/>
          <a:ln w="19050">
            <a:solidFill>
              <a:srgbClr val="F5C51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675888"/>
            <a:ext cx="457200" cy="0"/>
          </a:xfrm>
          <a:prstGeom prst="line">
            <a:avLst/>
          </a:prstGeom>
          <a:noFill/>
          <a:ln w="19050">
            <a:solidFill>
              <a:srgbClr val="F5C5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3886200"/>
            <a:ext cx="182880" cy="228600"/>
          </a:xfrm>
          <a:prstGeom prst="line">
            <a:avLst/>
          </a:prstGeom>
          <a:noFill/>
          <a:ln w="19050">
            <a:solidFill>
              <a:srgbClr val="F5C51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0120" y="3886200"/>
            <a:ext cx="-182880" cy="228600"/>
          </a:xfrm>
          <a:prstGeom prst="line">
            <a:avLst/>
          </a:prstGeom>
          <a:noFill/>
          <a:ln w="19050">
            <a:solidFill>
              <a:srgbClr val="F5C51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160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C518"/>
                </a:solidFill>
              </a:rPr>
              <a:t>Borrower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138160" y="1828800"/>
            <a:ext cx="274320" cy="274320"/>
          </a:xfrm>
          <a:prstGeom prst="ellipse">
            <a:avLst/>
          </a:prstGeom>
          <a:solidFill>
            <a:srgbClr val="7C3AED">
              <a:alpha val="70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75320" y="2103120"/>
            <a:ext cx="0" cy="32004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0" y="2212848"/>
            <a:ext cx="4572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92440" y="2423160"/>
            <a:ext cx="182880" cy="22860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58200" y="2423160"/>
            <a:ext cx="-182880" cy="22860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63840" y="26974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Admin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38160" y="3291840"/>
            <a:ext cx="274320" cy="274320"/>
          </a:xfrm>
          <a:prstGeom prst="ellipse">
            <a:avLst/>
          </a:prstGeom>
          <a:solidFill>
            <a:srgbClr val="00A896">
              <a:alpha val="70000"/>
            </a:srgbClr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75320" y="3566160"/>
            <a:ext cx="0" cy="32004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46720" y="3675888"/>
            <a:ext cx="45720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92440" y="3886200"/>
            <a:ext cx="182880" cy="22860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58200" y="3886200"/>
            <a:ext cx="-182880" cy="22860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63840" y="4160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</a:rPr>
              <a:t>Blockchain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078992" y="2487168"/>
            <a:ext cx="2167128" cy="-704088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78992" y="2487168"/>
            <a:ext cx="2167128" cy="-4572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78992" y="2487168"/>
            <a:ext cx="2167128" cy="621792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78992" y="3493008"/>
            <a:ext cx="2167128" cy="274320"/>
          </a:xfrm>
          <a:prstGeom prst="line">
            <a:avLst/>
          </a:prstGeom>
          <a:noFill/>
          <a:ln w="9525">
            <a:solidFill>
              <a:srgbClr val="F5C51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86600" y="1783080"/>
            <a:ext cx="685800" cy="45720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086600" y="2441448"/>
            <a:ext cx="685800" cy="-201168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086600" y="3108960"/>
            <a:ext cx="685800" cy="-86868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086600" y="3767328"/>
            <a:ext cx="685800" cy="-1527048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0" y="4864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6B"/>
                </a:solidFill>
              </a:rPr>
              <a:t>BlockChit  |  Decentralized Community Lending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0D4FF"/>
                </a:solidFill>
              </a:rPr>
              <a:t>SEQUENCE DIAGRAM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Flow: User → DApp → Contract → Blockchain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1417320" cy="347472"/>
          </a:xfrm>
          <a:prstGeom prst="rect">
            <a:avLst/>
          </a:prstGeom>
          <a:solidFill>
            <a:srgbClr val="00D4FF">
              <a:alpha val="70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155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Member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257300" y="1463040"/>
            <a:ext cx="0" cy="3337560"/>
          </a:xfrm>
          <a:prstGeom prst="line">
            <a:avLst/>
          </a:prstGeom>
          <a:noFill/>
          <a:ln w="9525">
            <a:solidFill>
              <a:srgbClr val="00D4F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148840" y="1115568"/>
            <a:ext cx="1417320" cy="347472"/>
          </a:xfrm>
          <a:prstGeom prst="rect">
            <a:avLst/>
          </a:prstGeom>
          <a:solidFill>
            <a:srgbClr val="F5C518">
              <a:alpha val="70000"/>
            </a:srgbClr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11155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MetaMask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57500" y="1463040"/>
            <a:ext cx="0" cy="3337560"/>
          </a:xfrm>
          <a:prstGeom prst="line">
            <a:avLst/>
          </a:prstGeom>
          <a:noFill/>
          <a:ln w="9525">
            <a:solidFill>
              <a:srgbClr val="F5C51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749040" y="1115568"/>
            <a:ext cx="1417320" cy="347472"/>
          </a:xfrm>
          <a:prstGeom prst="rect">
            <a:avLst/>
          </a:prstGeom>
          <a:solidFill>
            <a:srgbClr val="7C3AED">
              <a:alpha val="70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11155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DApp (React)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57700" y="1463040"/>
            <a:ext cx="0" cy="3337560"/>
          </a:xfrm>
          <a:prstGeom prst="line">
            <a:avLst/>
          </a:prstGeom>
          <a:noFill/>
          <a:ln w="9525">
            <a:solidFill>
              <a:srgbClr val="7C3AED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349240" y="1115568"/>
            <a:ext cx="1417320" cy="347472"/>
          </a:xfrm>
          <a:prstGeom prst="rect">
            <a:avLst/>
          </a:prstGeom>
          <a:solidFill>
            <a:srgbClr val="00A896">
              <a:alpha val="70000"/>
            </a:srgbClr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11155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Smart Contract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57900" y="1463040"/>
            <a:ext cx="0" cy="3337560"/>
          </a:xfrm>
          <a:prstGeom prst="line">
            <a:avLst/>
          </a:prstGeom>
          <a:noFill/>
          <a:ln w="9525">
            <a:solidFill>
              <a:srgbClr val="00A89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949440" y="1115568"/>
            <a:ext cx="1417320" cy="347472"/>
          </a:xfrm>
          <a:prstGeom prst="rect">
            <a:avLst/>
          </a:prstGeom>
          <a:solidFill>
            <a:srgbClr val="10B981">
              <a:alpha val="7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1155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Blockchain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58100" y="1463040"/>
            <a:ext cx="0" cy="3337560"/>
          </a:xfrm>
          <a:prstGeom prst="line">
            <a:avLst/>
          </a:prstGeom>
          <a:noFill/>
          <a:ln w="9525">
            <a:solidFill>
              <a:srgbClr val="10B981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257300" y="1627632"/>
            <a:ext cx="1600200" cy="0"/>
          </a:xfrm>
          <a:prstGeom prst="line">
            <a:avLst/>
          </a:prstGeom>
          <a:noFill/>
          <a:ln w="1524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92908" y="151790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FF"/>
                </a:solidFill>
              </a:rPr>
              <a:t>▶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417320" y="14447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1. Connect wallet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857500" y="1901952"/>
            <a:ext cx="1600200" cy="0"/>
          </a:xfrm>
          <a:prstGeom prst="line">
            <a:avLst/>
          </a:prstGeom>
          <a:noFill/>
          <a:ln w="15240">
            <a:solidFill>
              <a:srgbClr val="F5C51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3108" y="179222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518"/>
                </a:solidFill>
              </a:rPr>
              <a:t>▶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017520" y="17190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2. Wallet address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457700" y="2176272"/>
            <a:ext cx="160020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3308" y="20665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</a:rPr>
              <a:t>▶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17720" y="19933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3. joinPool(ETH)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57900" y="2450592"/>
            <a:ext cx="1600200" cy="0"/>
          </a:xfrm>
          <a:prstGeom prst="line">
            <a:avLst/>
          </a:prstGeom>
          <a:noFill/>
          <a:ln w="1524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3508" y="234086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896"/>
                </a:solidFill>
              </a:rPr>
              <a:t>▶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17920" y="22677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4. Record on-chain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057900" y="2724912"/>
            <a:ext cx="1600200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6012180" y="261518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◀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17920" y="25420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7E0"/>
                </a:solidFill>
              </a:rPr>
              <a:t>5. Tx hash confirmed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457700" y="2999232"/>
            <a:ext cx="1600200" cy="0"/>
          </a:xfrm>
          <a:prstGeom prst="line">
            <a:avLst/>
          </a:prstGeom>
          <a:noFill/>
          <a:ln w="15240">
            <a:solidFill>
              <a:srgbClr val="00A896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4411980" y="288950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896"/>
                </a:solidFill>
              </a:rPr>
              <a:t>◀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17720" y="28163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7E0"/>
                </a:solidFill>
              </a:rPr>
              <a:t>6. Event: GroupJoined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057900" y="3273552"/>
            <a:ext cx="160020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3508" y="316382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</a:rPr>
              <a:t>▶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17920" y="30906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7. selectBorrower()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057900" y="3547872"/>
            <a:ext cx="1600200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6012180" y="34381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◀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217920" y="33649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7E0"/>
                </a:solidFill>
              </a:rPr>
              <a:t>8. LoanReleased event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457700" y="3822192"/>
            <a:ext cx="1600200" cy="0"/>
          </a:xfrm>
          <a:prstGeom prst="line">
            <a:avLst/>
          </a:prstGeom>
          <a:noFill/>
          <a:ln w="15240">
            <a:solidFill>
              <a:srgbClr val="F5C51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11980" y="371246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518"/>
                </a:solidFill>
              </a:rPr>
              <a:t>◀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617720" y="36393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9. payEMI() + penalty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057900" y="4096512"/>
            <a:ext cx="1600200" cy="0"/>
          </a:xfrm>
          <a:prstGeom prst="line">
            <a:avLst/>
          </a:prstGeom>
          <a:noFill/>
          <a:ln w="15240">
            <a:solidFill>
              <a:srgbClr val="00A89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3508" y="398678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896"/>
                </a:solidFill>
              </a:rPr>
              <a:t>▶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17920" y="39136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10. shareProfit() → all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0" y="4864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6B"/>
                </a:solidFill>
              </a:rPr>
              <a:t>BlockChit  |  Decentralized Community Lending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5C518"/>
                </a:solidFill>
              </a:rPr>
              <a:t>DATA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Struct Definitions &amp; Relationships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606040" cy="347472"/>
          </a:xfrm>
          <a:prstGeom prst="rect">
            <a:avLst/>
          </a:prstGeom>
          <a:solidFill>
            <a:srgbClr val="00D4FF">
              <a:alpha val="80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Member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536192"/>
            <a:ext cx="2606040" cy="301752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36192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 walletAddr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837944"/>
            <a:ext cx="2606040" cy="301752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837944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 totalContribution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139696"/>
            <a:ext cx="2606040" cy="301752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139696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hasReceivedLoan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441448"/>
            <a:ext cx="2606040" cy="301752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441448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isActive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2606040" cy="301752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743200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 joinedAt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1188720"/>
            <a:ext cx="2606040" cy="1856232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1188720"/>
            <a:ext cx="2606040" cy="347472"/>
          </a:xfrm>
          <a:prstGeom prst="rect">
            <a:avLst/>
          </a:prstGeom>
          <a:solidFill>
            <a:srgbClr val="F5C518">
              <a:alpha val="80000"/>
            </a:srgbClr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11887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Pool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1536192"/>
            <a:ext cx="2606040" cy="301752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1536192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 poolId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46120" y="1837944"/>
            <a:ext cx="2606040" cy="301752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1837944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 loanAmount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2139696"/>
            <a:ext cx="2606040" cy="301752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5848" y="2139696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 cycleCount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46120" y="2441448"/>
            <a:ext cx="2606040" cy="301752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2441448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 memberCount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46120" y="2743200"/>
            <a:ext cx="2606040" cy="301752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55848" y="2743200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 currentBorrower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46120" y="3044952"/>
            <a:ext cx="2606040" cy="301752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55848" y="3044952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PoolState state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46120" y="1188720"/>
            <a:ext cx="2606040" cy="2157984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1188720"/>
            <a:ext cx="2606040" cy="347472"/>
          </a:xfrm>
          <a:prstGeom prst="rect">
            <a:avLst/>
          </a:prstGeom>
          <a:solidFill>
            <a:srgbClr val="7C3AED">
              <a:alpha val="80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11887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EMI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1536192"/>
            <a:ext cx="2606040" cy="301752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27648" y="1536192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 emiId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17920" y="1837944"/>
            <a:ext cx="2606040" cy="301752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27648" y="1837944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 member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17920" y="2139696"/>
            <a:ext cx="2606040" cy="301752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27648" y="2139696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 amount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17920" y="2441448"/>
            <a:ext cx="2606040" cy="301752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27648" y="2441448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 dueDate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17920" y="2743200"/>
            <a:ext cx="2606040" cy="301752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27648" y="2743200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 paidDate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17920" y="3044952"/>
            <a:ext cx="2606040" cy="301752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27648" y="3044952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 lateFee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17920" y="3346704"/>
            <a:ext cx="2606040" cy="301752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27648" y="3346704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isPaid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17920" y="1188720"/>
            <a:ext cx="2606040" cy="2459736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880360" y="1965960"/>
            <a:ext cx="365760" cy="0"/>
          </a:xfrm>
          <a:prstGeom prst="line">
            <a:avLst/>
          </a:prstGeom>
          <a:noFill/>
          <a:ln w="12700">
            <a:solidFill>
              <a:srgbClr val="B8C7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07792" y="18288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7E0"/>
                </a:solidFill>
              </a:rPr>
              <a:t>M:1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852160" y="1965960"/>
            <a:ext cx="365760" cy="0"/>
          </a:xfrm>
          <a:prstGeom prst="line">
            <a:avLst/>
          </a:prstGeom>
          <a:noFill/>
          <a:ln w="12700">
            <a:solidFill>
              <a:srgbClr val="B8C7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79592" y="18288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7E0"/>
                </a:solidFill>
              </a:rPr>
              <a:t>1:N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74320" y="3749040"/>
            <a:ext cx="859536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1480" y="37673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Enums &amp; Mappings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11480" y="41148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PoolState { OPEN, ACTIVE, CLOSED }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560320" y="41148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mapping(address =&gt; Member) public members;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709160" y="41148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mapping(uint =&gt; EMI[]) public emiHistory;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858000" y="41148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mapping(address =&gt; uint) public profitShare;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0" y="4864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6B"/>
                </a:solidFill>
              </a:rPr>
              <a:t>BlockChit  |  Decentralized Community Lending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6666"/>
                </a:solidFill>
              </a:rPr>
              <a:t>SECURITY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Security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595360" cy="804672"/>
          </a:xfrm>
          <a:prstGeom prst="rect">
            <a:avLst/>
          </a:prstGeom>
          <a:solidFill>
            <a:srgbClr val="0D1B3E"/>
          </a:solidFill>
          <a:ln w="19050">
            <a:solidFill>
              <a:srgbClr val="CC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640080" cy="804672"/>
          </a:xfrm>
          <a:prstGeom prst="rect">
            <a:avLst/>
          </a:prstGeom>
          <a:solidFill>
            <a:srgbClr val="CC2222">
              <a:alpha val="80000"/>
            </a:srgbClr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1207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888"/>
                </a:solidFill>
              </a:rPr>
              <a:t>⚠  Reentrancy Attack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490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Malicious contract calls back into payEMI() before state updates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212080" y="1207008"/>
            <a:ext cx="3566160" cy="731520"/>
          </a:xfrm>
          <a:prstGeom prst="rect">
            <a:avLst/>
          </a:prstGeom>
          <a:solidFill>
            <a:srgbClr val="091428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1216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✅  Checks-Effects-Interactions pattern + ReentrancyGuard (OpenZeppelin)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03520" y="15361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modifier nonReentrant() { require(!locked); locked=true; _; locked=false; }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74320" y="2084832"/>
            <a:ext cx="8595360" cy="804672"/>
          </a:xfrm>
          <a:prstGeom prst="rect">
            <a:avLst/>
          </a:prstGeom>
          <a:solidFill>
            <a:srgbClr val="0D1B3E"/>
          </a:solidFill>
          <a:ln w="1905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084832"/>
            <a:ext cx="640080" cy="804672"/>
          </a:xfrm>
          <a:prstGeom prst="rect">
            <a:avLst/>
          </a:prstGeom>
          <a:solidFill>
            <a:srgbClr val="F5C518">
              <a:alpha val="80000"/>
            </a:srgbClr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084832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21214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</a:rPr>
              <a:t>⚠  Integer Overflow / Underflow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4048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EMI / penalty arithmetic could wrap around in older Solidity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12080" y="2121408"/>
            <a:ext cx="3566160" cy="731520"/>
          </a:xfrm>
          <a:prstGeom prst="rect">
            <a:avLst/>
          </a:prstGeom>
          <a:solidFill>
            <a:srgbClr val="091428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21305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✅  Solidity 0.8+ built-in overflow checks + SafeMath library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03520" y="24505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 penalty = baseFee + (daysLate * dailyRate);  // auto-reverts on overflow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" y="2999232"/>
            <a:ext cx="8595360" cy="804672"/>
          </a:xfrm>
          <a:prstGeom prst="rect">
            <a:avLst/>
          </a:prstGeom>
          <a:solidFill>
            <a:srgbClr val="0D1B3E"/>
          </a:solidFill>
          <a:ln w="19050">
            <a:solidFill>
              <a:srgbClr val="CC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999232"/>
            <a:ext cx="640080" cy="804672"/>
          </a:xfrm>
          <a:prstGeom prst="rect">
            <a:avLst/>
          </a:prstGeom>
          <a:solidFill>
            <a:srgbClr val="CC2222">
              <a:alpha val="80000"/>
            </a:srgbClr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999232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05840" y="3035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888"/>
                </a:solidFill>
              </a:rPr>
              <a:t>⚠  Unauthorized Access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33192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Non-admin calling selectBorrower() or shareProfit()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212080" y="3035808"/>
            <a:ext cx="3566160" cy="731520"/>
          </a:xfrm>
          <a:prstGeom prst="rect">
            <a:avLst/>
          </a:prstGeom>
          <a:solidFill>
            <a:srgbClr val="091428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3044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✅  onlyAdmin modifier on all admin functions; admin set at deploy time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03520" y="33649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modifier onlyAdmin() { require(msg.sender == admin, 'Not admin'); _; }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3913632"/>
            <a:ext cx="8595360" cy="804672"/>
          </a:xfrm>
          <a:prstGeom prst="rect">
            <a:avLst/>
          </a:prstGeom>
          <a:solidFill>
            <a:srgbClr val="0D1B3E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913632"/>
            <a:ext cx="640080" cy="804672"/>
          </a:xfrm>
          <a:prstGeom prst="rect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913632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05840" y="39502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</a:rPr>
              <a:t>⚠  Front-Running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" y="42336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Miner sees pending joinPool() and manipulates selection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212080" y="3950208"/>
            <a:ext cx="3566160" cy="731520"/>
          </a:xfrm>
          <a:prstGeom prst="rect">
            <a:avLst/>
          </a:prstGeom>
          <a:solidFill>
            <a:srgbClr val="091428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0" y="3959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✅  Commit-reveal scheme for borrower selection; rotation index is deterministic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303520" y="42793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borrowerIndex = (cycleNo % eligibleCount);  // no randomness to manipulate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4864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6B"/>
                </a:solidFill>
              </a:rPr>
              <a:t>BlockChit  |  Decentralized Community Lending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10B981"/>
                </a:solidFill>
              </a:rPr>
              <a:t>TESTING &amp;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Tests, Gas Costs &amp; Performance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965960" cy="822960"/>
          </a:xfrm>
          <a:prstGeom prst="rect">
            <a:avLst/>
          </a:prstGeom>
          <a:solidFill>
            <a:srgbClr val="0D1B3E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887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18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 Cases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7373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7E0"/>
                </a:solidFill>
              </a:rPr>
              <a:t>All Passing ✅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143000"/>
            <a:ext cx="1965960" cy="822960"/>
          </a:xfrm>
          <a:prstGeom prst="rect">
            <a:avLst/>
          </a:prstGeom>
          <a:solidFill>
            <a:srgbClr val="0D1B3E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1887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100%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68880" y="155448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Coverage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17373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7E0"/>
                </a:solidFill>
              </a:rPr>
              <a:t>Functions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143000"/>
            <a:ext cx="1965960" cy="822960"/>
          </a:xfrm>
          <a:prstGeom prst="rect">
            <a:avLst/>
          </a:prstGeom>
          <a:solidFill>
            <a:srgbClr val="0D1B3E"/>
          </a:solidFill>
          <a:ln w="2540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1887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C518"/>
                </a:solidFill>
              </a:rPr>
              <a:t>~21K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63440" y="155448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Avg Gas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17373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7E0"/>
                </a:solidFill>
              </a:rPr>
              <a:t>per transaction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0" y="1143000"/>
            <a:ext cx="1965960" cy="822960"/>
          </a:xfrm>
          <a:prstGeom prst="rect">
            <a:avLst/>
          </a:prstGeom>
          <a:solidFill>
            <a:srgbClr val="0D1B3E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11887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</a:rPr>
              <a:t>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58000" y="155448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Critical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17373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7E0"/>
                </a:solidFill>
              </a:rPr>
              <a:t>Vulnerabilities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103120"/>
            <a:ext cx="4572000" cy="301752"/>
          </a:xfrm>
          <a:prstGeom prst="rect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103120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 Case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2103120"/>
            <a:ext cx="1828800" cy="301752"/>
          </a:xfrm>
          <a:prstGeom prst="rect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10312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Result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0" y="2103120"/>
            <a:ext cx="1645920" cy="301752"/>
          </a:xfrm>
          <a:prstGeom prst="rect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210312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Gas Used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423160"/>
            <a:ext cx="4572000" cy="301752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2423160"/>
            <a:ext cx="1828800" cy="301752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0" y="2423160"/>
            <a:ext cx="1645920" cy="301752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2423160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joinPool() with exact ETH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56048" y="242316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✅ PASS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39712" y="242316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C518"/>
                </a:solidFill>
              </a:rPr>
              <a:t>21,340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2724912"/>
            <a:ext cx="4572000" cy="301752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2724912"/>
            <a:ext cx="1828800" cy="301752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0" y="2724912"/>
            <a:ext cx="1645920" cy="301752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2724912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joinPool() with insufficient ETH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56048" y="272491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✅ PASS (reverts)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39712" y="2724912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C518"/>
                </a:solidFill>
              </a:rPr>
              <a:t>—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3026664"/>
            <a:ext cx="4572000" cy="301752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92040" y="3026664"/>
            <a:ext cx="1828800" cy="301752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66560" y="3026664"/>
            <a:ext cx="1645920" cy="301752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3026664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selectBorrower() by admin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956048" y="3026664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✅ PASS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839712" y="3026664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C518"/>
                </a:solidFill>
              </a:rPr>
              <a:t>34,120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3328416"/>
            <a:ext cx="4572000" cy="301752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92040" y="3328416"/>
            <a:ext cx="1828800" cy="301752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66560" y="3328416"/>
            <a:ext cx="1645920" cy="301752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3328416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selectBorrower() by non-admin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956048" y="3328416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✅ PASS (reverts)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839712" y="3328416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C518"/>
                </a:solidFill>
              </a:rPr>
              <a:t>—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74320" y="3630168"/>
            <a:ext cx="4572000" cy="301752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92040" y="3630168"/>
            <a:ext cx="1828800" cy="301752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0" y="3630168"/>
            <a:ext cx="1645920" cy="301752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4048" y="3630168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payEMI() on time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956048" y="363016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✅ PASS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839712" y="363016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C518"/>
                </a:solidFill>
              </a:rPr>
              <a:t>28,560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74320" y="3931920"/>
            <a:ext cx="4572000" cy="301752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92040" y="3931920"/>
            <a:ext cx="1828800" cy="301752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66560" y="3931920"/>
            <a:ext cx="1645920" cy="301752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4048" y="3931920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payEMI() late (auto penalty)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956048" y="393192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✅ PASS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839712" y="393192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C518"/>
                </a:solidFill>
              </a:rPr>
              <a:t>31,200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74320" y="4233672"/>
            <a:ext cx="4572000" cy="301752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892040" y="4233672"/>
            <a:ext cx="1828800" cy="301752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766560" y="4233672"/>
            <a:ext cx="1645920" cy="301752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4048" y="4233672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shareProfit() proportional calc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4956048" y="423367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✅ PASS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839712" y="4233672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C518"/>
                </a:solidFill>
              </a:rPr>
              <a:t>42,780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274320" y="4535424"/>
            <a:ext cx="4572000" cy="301752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892040" y="4535424"/>
            <a:ext cx="1828800" cy="301752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0" y="4535424"/>
            <a:ext cx="1645920" cy="301752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84048" y="4535424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Reentrancy attack simulation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4956048" y="4535424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✅ PASS (blocked)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6839712" y="4535424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C518"/>
                </a:solidFill>
              </a:rPr>
              <a:t>—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0" y="4864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6B"/>
                </a:solidFill>
              </a:rPr>
              <a:t>BlockChit  |  Decentralized Community Lending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0A896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Architecture &amp; Technical Details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57400" cy="566928"/>
          </a:xfrm>
          <a:prstGeom prst="rect">
            <a:avLst/>
          </a:prstGeom>
          <a:solidFill>
            <a:srgbClr val="0D1B3E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2529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📜  Solidity Version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^0.8.19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1188720"/>
            <a:ext cx="2057400" cy="566928"/>
          </a:xfrm>
          <a:prstGeom prst="rect">
            <a:avLst/>
          </a:prstGeom>
          <a:solidFill>
            <a:srgbClr val="0D1B3E"/>
          </a:solidFill>
          <a:ln w="1905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22529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C518"/>
                </a:solidFill>
              </a:rPr>
              <a:t>🌐  Network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60320" y="148132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Ethereum Sepolia Testnet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847088"/>
            <a:ext cx="2057400" cy="566928"/>
          </a:xfrm>
          <a:prstGeom prst="rect">
            <a:avLst/>
          </a:prstGeom>
          <a:solidFill>
            <a:srgbClr val="0D1B3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88366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🔧  Dev Framework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13969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Hardhat v2.x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68880" y="1847088"/>
            <a:ext cx="2057400" cy="566928"/>
          </a:xfrm>
          <a:prstGeom prst="rect">
            <a:avLst/>
          </a:prstGeom>
          <a:solidFill>
            <a:srgbClr val="0D1B3E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60320" y="188366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💻  Frontend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60320" y="213969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React 18 + Ethers.js v6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505456"/>
            <a:ext cx="2057400" cy="566928"/>
          </a:xfrm>
          <a:prstGeom prst="rect">
            <a:avLst/>
          </a:prstGeom>
          <a:solidFill>
            <a:srgbClr val="0D1B3E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254203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🦊  Wallet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279806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MetaMask (EIP-1193)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68880" y="2505456"/>
            <a:ext cx="2057400" cy="566928"/>
          </a:xfrm>
          <a:prstGeom prst="rect">
            <a:avLst/>
          </a:prstGeom>
          <a:solidFill>
            <a:srgbClr val="0D1B3E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60320" y="254203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☁️  IPFS Client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60320" y="279806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web3.storage / nft.storage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1188720"/>
            <a:ext cx="4160520" cy="3246120"/>
          </a:xfrm>
          <a:prstGeom prst="rect">
            <a:avLst/>
          </a:prstGeom>
          <a:solidFill>
            <a:srgbClr val="0D1B3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0060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Deployment Pipeline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600200"/>
            <a:ext cx="347472" cy="34747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D1F"/>
                </a:solidFill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16184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Write &amp; Compile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0" y="181965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solc 0.8.19 via Hardhat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28616" y="1947672"/>
            <a:ext cx="0" cy="201168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2148840"/>
            <a:ext cx="347472" cy="34747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148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D1F"/>
                </a:solidFill>
              </a:rPr>
              <a:t>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21671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</a:rPr>
              <a:t>Unit Test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236829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Hardhat + Chai — 18 tests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28616" y="2496312"/>
            <a:ext cx="0" cy="201168"/>
          </a:xfrm>
          <a:prstGeom prst="line">
            <a:avLst/>
          </a:prstGeom>
          <a:noFill/>
          <a:ln w="12700">
            <a:solidFill>
              <a:srgbClr val="F5C5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69748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D1F"/>
                </a:solidFill>
              </a:rPr>
              <a:t>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12080" y="27157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Deploy Testnet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291693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Sepolia via Alchemy RPC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928616" y="3044952"/>
            <a:ext cx="0" cy="20116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3246120"/>
            <a:ext cx="347472" cy="3474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D1F"/>
                </a:solidFill>
              </a:rPr>
              <a:t>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12080" y="32644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Verify Contract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12080" y="346557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Etherscan source verify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928616" y="3593592"/>
            <a:ext cx="0" cy="201168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3794760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D1F"/>
                </a:solidFill>
              </a:rPr>
              <a:t>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12080" y="3813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Frontend Build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12080" y="40142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React build → Vercel/IPFS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0" y="4864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6B"/>
                </a:solidFill>
              </a:rPr>
              <a:t>BlockChit  |  Decentralized Community Lending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C3AED"/>
                </a:solidFill>
              </a:rPr>
              <a:t>FUTURE 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Roadmap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3977640" cy="347472"/>
          </a:xfrm>
          <a:prstGeom prst="rect">
            <a:avLst/>
          </a:prstGeom>
          <a:solidFill>
            <a:srgbClr val="441111"/>
          </a:solidFill>
          <a:ln w="19050">
            <a:solidFill>
              <a:srgbClr val="CC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70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888"/>
                </a:solidFill>
              </a:rPr>
              <a:t>⚠  Current Limitations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3977640" cy="347472"/>
          </a:xfrm>
          <a:prstGeom prst="rect">
            <a:avLst/>
          </a:prstGeom>
          <a:solidFill>
            <a:srgbClr val="0D1B3E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727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</a:rPr>
              <a:t>✘  Fixed 40-member cap per pool group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3977640" cy="347472"/>
          </a:xfrm>
          <a:prstGeom prst="rect">
            <a:avLst/>
          </a:prstGeom>
          <a:solidFill>
            <a:srgbClr val="0D1B3E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65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</a:rPr>
              <a:t>✘  ETH-only — no stablecoin support yet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359152"/>
            <a:ext cx="3977640" cy="347472"/>
          </a:xfrm>
          <a:prstGeom prst="rect">
            <a:avLst/>
          </a:prstGeom>
          <a:solidFill>
            <a:srgbClr val="0D1B3E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591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</a:rPr>
              <a:t>✘  Manual admin required for pool creation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752344"/>
            <a:ext cx="3977640" cy="347472"/>
          </a:xfrm>
          <a:prstGeom prst="rect">
            <a:avLst/>
          </a:prstGeom>
          <a:solidFill>
            <a:srgbClr val="0D1B3E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523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</a:rPr>
              <a:t>✘  No dispute resolution mechanism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145536"/>
            <a:ext cx="3977640" cy="347472"/>
          </a:xfrm>
          <a:prstGeom prst="rect">
            <a:avLst/>
          </a:prstGeom>
          <a:solidFill>
            <a:srgbClr val="0D1B3E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1455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</a:rPr>
              <a:t>✘  High gas fees on Ethereum mainnet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538728"/>
            <a:ext cx="3977640" cy="347472"/>
          </a:xfrm>
          <a:prstGeom prst="rect">
            <a:avLst/>
          </a:prstGeom>
          <a:solidFill>
            <a:srgbClr val="0D1B3E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387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</a:rPr>
              <a:t>✘  No mobile native app (web DApp only)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1170432"/>
            <a:ext cx="4160520" cy="347472"/>
          </a:xfrm>
          <a:prstGeom prst="rect">
            <a:avLst/>
          </a:prstGeom>
          <a:solidFill>
            <a:srgbClr val="0A2A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170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🚀  Future Roadmap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1572768"/>
            <a:ext cx="4160520" cy="347472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572768"/>
            <a:ext cx="502920" cy="347472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5727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v1.1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230368" y="15727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</a:rPr>
              <a:t>✦  Stablecoin (USDC / DAI) support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1965960"/>
            <a:ext cx="4160520" cy="347472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1965960"/>
            <a:ext cx="502920" cy="347472"/>
          </a:xfrm>
          <a:prstGeom prst="rect">
            <a:avLst/>
          </a:prstGeom>
          <a:solidFill>
            <a:srgbClr val="F5C518">
              <a:alpha val="80000"/>
            </a:srgbClr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9659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C518"/>
                </a:solidFill>
              </a:rPr>
              <a:t>v1.2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30368" y="19659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</a:rPr>
              <a:t>✦  Multi-chain: Polygon + BSC deploy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2359152"/>
            <a:ext cx="4160520" cy="347472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2359152"/>
            <a:ext cx="502920" cy="347472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23591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v1.3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30368" y="23591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</a:rPr>
              <a:t>✦  Governance token for voting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2752344"/>
            <a:ext cx="4160520" cy="347472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2752344"/>
            <a:ext cx="502920" cy="347472"/>
          </a:xfrm>
          <a:prstGeom prst="rect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75234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896"/>
                </a:solidFill>
              </a:rPr>
              <a:t>v2.0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230368" y="27523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</a:rPr>
              <a:t>✦  Native mobile app (React Native)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63440" y="3145536"/>
            <a:ext cx="4160520" cy="347472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3145536"/>
            <a:ext cx="502920" cy="347472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314553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v2.1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230368" y="31455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</a:rPr>
              <a:t>✦  AI-based credit scoring model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63440" y="3538728"/>
            <a:ext cx="4160520" cy="347472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3538728"/>
            <a:ext cx="502920" cy="347472"/>
          </a:xfrm>
          <a:prstGeom prst="rect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35387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</a:rPr>
              <a:t>v3.0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230368" y="35387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E0"/>
                </a:solidFill>
              </a:rPr>
              <a:t>✦  Cross-chain lending bridges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0" y="4864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6B"/>
                </a:solidFill>
              </a:rPr>
              <a:t>BlockChit  |  Decentralized Community Lending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C7E0"/>
          </a:solidFill>
          <a:ln w="12700">
            <a:solidFill>
              <a:srgbClr val="B8C7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B8C7E0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Bibliography &amp; Further Reading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07008"/>
            <a:ext cx="8595360" cy="384048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070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[1]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20700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Nakamoto, S. (2008). Bitcoin: A Peer-to-Peer Electronic Cash System. bitcoin.org/bitcoin.pdf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655064"/>
            <a:ext cx="8595360" cy="384048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5506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[2]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65506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Buterin, V. (2014). Ethereum: A Next-Generation Smart Contract and Decentralized Application Platform. ethereum.org/whitepaper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103120"/>
            <a:ext cx="8595360" cy="384048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031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[3]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1031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Solidity Documentation — docs.soliditylang.org (v0.8.x, 2023)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551176"/>
            <a:ext cx="8595360" cy="384048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5117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[4]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255117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OpenZeppelin. Smart Contract Security Best Practices — docs.openzeppelin.com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999232"/>
            <a:ext cx="8595360" cy="384048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9923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[5]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299923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Aave Protocol Documentation — docs.aave.com/developers (2023)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447288"/>
            <a:ext cx="8595360" cy="384048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4728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[6]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34472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Wood, G. (2014). Ethereum Yellow Paper: A Formal Specification of Ethereum. ethereum.github.io/yellowpaper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895344"/>
            <a:ext cx="8595360" cy="384048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89534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[7]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" y="389534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Antonopoulos, A. &amp; Wood, G. (2018). Mastering Ethereum. O'Reilly Media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4343400"/>
            <a:ext cx="8595360" cy="384048"/>
          </a:xfrm>
          <a:prstGeom prst="rect">
            <a:avLst/>
          </a:prstGeom>
          <a:solidFill>
            <a:srgbClr val="091428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3434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[8]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" y="43434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E0"/>
                </a:solidFill>
              </a:rPr>
              <a:t>Atzei, N. et al. (2017). A Survey of Attacks on Ethereum Smart Contracts. POST 2017, Springer.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4864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6B"/>
                </a:solidFill>
              </a:rPr>
              <a:t>BlockChit  |  Decentralized Community Lending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640080"/>
            <a:ext cx="7315200" cy="4206240"/>
          </a:xfrm>
          <a:prstGeom prst="rect">
            <a:avLst/>
          </a:prstGeom>
          <a:solidFill>
            <a:srgbClr val="0D1B3E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640080"/>
            <a:ext cx="73152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822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00D4FF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BlockChit bridges the gap between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lending and decentralized finance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86000" y="22402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8C7E0"/>
                </a:solidFill>
              </a:rPr>
              <a:t>✅  Trustless smart-contract-driven community lending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0" y="262432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8C7E0"/>
                </a:solidFill>
              </a:rPr>
              <a:t>✅  Fully automated EMI tracking and profit distribution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300837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8C7E0"/>
                </a:solidFill>
              </a:rPr>
              <a:t>✅  100% transparent on-chain transaction history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339242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8C7E0"/>
                </a:solidFill>
              </a:rPr>
              <a:t>✅  Accessible to millions via simple web DApp + MetaMask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3840480"/>
            <a:ext cx="6400800" cy="731520"/>
          </a:xfrm>
          <a:prstGeom prst="rect">
            <a:avLst/>
          </a:prstGeom>
          <a:solidFill>
            <a:srgbClr val="091428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388620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Shivam Mishra (S24CSEU1470)  |  Priyanshu Prakash Singh (S24CSEU1462)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4224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7E0"/>
                </a:solidFill>
              </a:rPr>
              <a:t>Decentralized &amp; Community Lending Platform — Final Year Project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0" y="466344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C518"/>
                </a:solidFill>
              </a:rPr>
              <a:t>Thank You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BlockChit: Decentralized Community Lending Platform</dc:title>
  <dc:subject>PptxGenJS Presentation</dc:subject>
  <dc:creator>Shivam Mishra &amp; Priyanshu Prakash Singh</dc:creator>
  <cp:lastModifiedBy>Shivam Mishra &amp; Priyanshu Prakash Singh</cp:lastModifiedBy>
  <cp:revision>1</cp:revision>
  <dcterms:created xsi:type="dcterms:W3CDTF">2026-03-13T03:59:13Z</dcterms:created>
  <dcterms:modified xsi:type="dcterms:W3CDTF">2026-03-13T03:59:13Z</dcterms:modified>
</cp:coreProperties>
</file>